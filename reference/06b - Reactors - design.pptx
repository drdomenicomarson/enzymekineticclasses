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4" r:id="rId2"/>
    <p:sldId id="320" r:id="rId3"/>
    <p:sldId id="317" r:id="rId4"/>
    <p:sldId id="336" r:id="rId5"/>
    <p:sldId id="321" r:id="rId6"/>
    <p:sldId id="325" r:id="rId7"/>
    <p:sldId id="326" r:id="rId8"/>
    <p:sldId id="322" r:id="rId9"/>
    <p:sldId id="327" r:id="rId10"/>
    <p:sldId id="323" r:id="rId11"/>
    <p:sldId id="33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" id="{2F0E3271-09A2-BF4A-AA49-859A0993E10D}">
          <p14:sldIdLst>
            <p14:sldId id="284"/>
          </p14:sldIdLst>
        </p14:section>
        <p14:section name="batch" id="{5D058241-55AC-5C4A-92C3-D0BB70659E86}">
          <p14:sldIdLst>
            <p14:sldId id="320"/>
            <p14:sldId id="317"/>
            <p14:sldId id="336"/>
          </p14:sldIdLst>
        </p14:section>
        <p14:section name="CSTR" id="{D916627C-8E9A-824A-BEC8-66A0A2551C78}">
          <p14:sldIdLst>
            <p14:sldId id="321"/>
            <p14:sldId id="325"/>
            <p14:sldId id="326"/>
          </p14:sldIdLst>
        </p14:section>
        <p14:section name="PFR" id="{0AC214AB-3736-E64F-B408-59F38EB803B8}">
          <p14:sldIdLst>
            <p14:sldId id="322"/>
            <p14:sldId id="327"/>
            <p14:sldId id="323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9EEA"/>
    <a:srgbClr val="EA879A"/>
    <a:srgbClr val="D883FF"/>
    <a:srgbClr val="E9A051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B47CD6-6BED-474B-A5C3-CEA8DCE73592}" v="9" dt="2026-03-12T22:06:38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3"/>
    <p:restoredTop sz="83927"/>
  </p:normalViewPr>
  <p:slideViewPr>
    <p:cSldViewPr snapToGrid="0">
      <p:cViewPr varScale="1">
        <p:scale>
          <a:sx n="123" d="100"/>
          <a:sy n="123" d="100"/>
        </p:scale>
        <p:origin x="1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SON DOMENICO" userId="04a886aa-3504-4b9f-b47b-a4805d311a89" providerId="ADAL" clId="{64BDA6C9-CA24-546E-8CC9-0A156A5FF098}"/>
    <pc:docChg chg="undo redo custSel addSld delSld modSld sldOrd addSection delSection modSection">
      <pc:chgData name="MARSON DOMENICO" userId="04a886aa-3504-4b9f-b47b-a4805d311a89" providerId="ADAL" clId="{64BDA6C9-CA24-546E-8CC9-0A156A5FF098}" dt="2026-03-12T22:06:38.864" v="10681" actId="20577"/>
      <pc:docMkLst>
        <pc:docMk/>
      </pc:docMkLst>
      <pc:sldChg chg="addSp modSp add mod">
        <pc:chgData name="MARSON DOMENICO" userId="04a886aa-3504-4b9f-b47b-a4805d311a89" providerId="ADAL" clId="{64BDA6C9-CA24-546E-8CC9-0A156A5FF098}" dt="2026-03-12T22:06:38.864" v="10681" actId="20577"/>
        <pc:sldMkLst>
          <pc:docMk/>
          <pc:sldMk cId="851227632" sldId="320"/>
        </pc:sldMkLst>
        <pc:spChg chg="mod">
          <ac:chgData name="MARSON DOMENICO" userId="04a886aa-3504-4b9f-b47b-a4805d311a89" providerId="ADAL" clId="{64BDA6C9-CA24-546E-8CC9-0A156A5FF098}" dt="2026-03-12T22:06:38.864" v="10681" actId="20577"/>
          <ac:spMkLst>
            <pc:docMk/>
            <pc:sldMk cId="851227632" sldId="320"/>
            <ac:spMk id="4" creationId="{7BF0686B-344D-5F5A-6ACB-7D632077678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ts-my.sharepoint.com/personal/16578_ds_units_it/Documents/Classes/Enzyme%20Kinetics%20(417MI,%20ING-IND%2034)/2025-26%20-%20Enzyme%20Kinetics%20(417MI,%20ING-IND%2034)/Reactor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PFR</c:v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'PFR vs CSTR'!$E$2:$E$28</c:f>
              <c:numCache>
                <c:formatCode>General</c:formatCode>
                <c:ptCount val="27"/>
                <c:pt idx="0">
                  <c:v>0.999</c:v>
                </c:pt>
                <c:pt idx="1">
                  <c:v>0.995</c:v>
                </c:pt>
                <c:pt idx="2">
                  <c:v>0.99</c:v>
                </c:pt>
                <c:pt idx="3">
                  <c:v>0.98</c:v>
                </c:pt>
                <c:pt idx="4">
                  <c:v>0.96</c:v>
                </c:pt>
                <c:pt idx="5">
                  <c:v>0.94</c:v>
                </c:pt>
                <c:pt idx="6">
                  <c:v>0.92</c:v>
                </c:pt>
                <c:pt idx="7">
                  <c:v>0.9</c:v>
                </c:pt>
                <c:pt idx="8">
                  <c:v>0.85</c:v>
                </c:pt>
                <c:pt idx="9">
                  <c:v>0.8</c:v>
                </c:pt>
                <c:pt idx="10">
                  <c:v>0.75</c:v>
                </c:pt>
                <c:pt idx="11">
                  <c:v>0.7</c:v>
                </c:pt>
                <c:pt idx="12">
                  <c:v>0.65</c:v>
                </c:pt>
                <c:pt idx="13">
                  <c:v>0.6</c:v>
                </c:pt>
                <c:pt idx="14">
                  <c:v>0.55000000000000004</c:v>
                </c:pt>
                <c:pt idx="15">
                  <c:v>0.5</c:v>
                </c:pt>
                <c:pt idx="16">
                  <c:v>0.45</c:v>
                </c:pt>
                <c:pt idx="17">
                  <c:v>0.4</c:v>
                </c:pt>
                <c:pt idx="18">
                  <c:v>0.35</c:v>
                </c:pt>
                <c:pt idx="19">
                  <c:v>0.29999999999999899</c:v>
                </c:pt>
                <c:pt idx="20">
                  <c:v>0.249999999999999</c:v>
                </c:pt>
                <c:pt idx="21">
                  <c:v>0.19999999999999901</c:v>
                </c:pt>
                <c:pt idx="22">
                  <c:v>0.149999999999999</c:v>
                </c:pt>
                <c:pt idx="23">
                  <c:v>9.9999999999999006E-2</c:v>
                </c:pt>
                <c:pt idx="24">
                  <c:v>4.9999999999998997E-2</c:v>
                </c:pt>
                <c:pt idx="25">
                  <c:v>0.02</c:v>
                </c:pt>
                <c:pt idx="26">
                  <c:v>0.01</c:v>
                </c:pt>
              </c:numCache>
            </c:numRef>
          </c:xVal>
          <c:yVal>
            <c:numRef>
              <c:f>'PFR vs CSTR'!$G$2:$G$28</c:f>
              <c:numCache>
                <c:formatCode>0.00</c:formatCode>
                <c:ptCount val="27"/>
                <c:pt idx="0">
                  <c:v>8.4488776394910676</c:v>
                </c:pt>
                <c:pt idx="1">
                  <c:v>7.6241586832740182</c:v>
                </c:pt>
                <c:pt idx="2">
                  <c:v>7.2525850929940452</c:v>
                </c:pt>
                <c:pt idx="3">
                  <c:v>6.8560115027140727</c:v>
                </c:pt>
                <c:pt idx="4">
                  <c:v>6.4094379124341003</c:v>
                </c:pt>
                <c:pt idx="5">
                  <c:v>6.1067053583800179</c:v>
                </c:pt>
                <c:pt idx="6">
                  <c:v>5.8628643221541283</c:v>
                </c:pt>
                <c:pt idx="7">
                  <c:v>5.6512925464970234</c:v>
                </c:pt>
                <c:pt idx="8">
                  <c:v>5.1985599924429415</c:v>
                </c:pt>
                <c:pt idx="9">
                  <c:v>4.8047189562170507</c:v>
                </c:pt>
                <c:pt idx="10">
                  <c:v>4.4431471805599454</c:v>
                </c:pt>
                <c:pt idx="11">
                  <c:v>4.1019864021629679</c:v>
                </c:pt>
                <c:pt idx="12">
                  <c:v>3.7749110622493394</c:v>
                </c:pt>
                <c:pt idx="13">
                  <c:v>3.4581453659370776</c:v>
                </c:pt>
                <c:pt idx="14">
                  <c:v>3.1492538481088865</c:v>
                </c:pt>
                <c:pt idx="15">
                  <c:v>2.8465735902799727</c:v>
                </c:pt>
                <c:pt idx="16">
                  <c:v>2.5489185003778099</c:v>
                </c:pt>
                <c:pt idx="17">
                  <c:v>2.2554128118829957</c:v>
                </c:pt>
                <c:pt idx="18">
                  <c:v>1.9653914580462271</c:v>
                </c:pt>
                <c:pt idx="19">
                  <c:v>1.6783374719693598</c:v>
                </c:pt>
                <c:pt idx="20">
                  <c:v>1.3938410362258848</c:v>
                </c:pt>
                <c:pt idx="21">
                  <c:v>1.1115717756570993</c:v>
                </c:pt>
                <c:pt idx="22">
                  <c:v>0.8312594647488819</c:v>
                </c:pt>
                <c:pt idx="23">
                  <c:v>0.55268025782890762</c:v>
                </c:pt>
                <c:pt idx="24">
                  <c:v>0.27564664719376974</c:v>
                </c:pt>
                <c:pt idx="25">
                  <c:v>0.11010135365875973</c:v>
                </c:pt>
                <c:pt idx="26">
                  <c:v>5.5025167926750752E-2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09-7146-BFF3-60834FA7251B}"/>
            </c:ext>
          </c:extLst>
        </c:ser>
        <c:ser>
          <c:idx val="1"/>
          <c:order val="1"/>
          <c:tx>
            <c:v>CSTR</c:v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'PFR vs CSTR'!$E$5:$E$28</c:f>
              <c:numCache>
                <c:formatCode>General</c:formatCode>
                <c:ptCount val="24"/>
                <c:pt idx="0">
                  <c:v>0.98</c:v>
                </c:pt>
                <c:pt idx="1">
                  <c:v>0.96</c:v>
                </c:pt>
                <c:pt idx="2">
                  <c:v>0.94</c:v>
                </c:pt>
                <c:pt idx="3">
                  <c:v>0.92</c:v>
                </c:pt>
                <c:pt idx="4">
                  <c:v>0.9</c:v>
                </c:pt>
                <c:pt idx="5">
                  <c:v>0.85</c:v>
                </c:pt>
                <c:pt idx="6">
                  <c:v>0.8</c:v>
                </c:pt>
                <c:pt idx="7">
                  <c:v>0.75</c:v>
                </c:pt>
                <c:pt idx="8">
                  <c:v>0.7</c:v>
                </c:pt>
                <c:pt idx="9">
                  <c:v>0.65</c:v>
                </c:pt>
                <c:pt idx="10">
                  <c:v>0.6</c:v>
                </c:pt>
                <c:pt idx="11">
                  <c:v>0.55000000000000004</c:v>
                </c:pt>
                <c:pt idx="12">
                  <c:v>0.5</c:v>
                </c:pt>
                <c:pt idx="13">
                  <c:v>0.45</c:v>
                </c:pt>
                <c:pt idx="14">
                  <c:v>0.4</c:v>
                </c:pt>
                <c:pt idx="15">
                  <c:v>0.35</c:v>
                </c:pt>
                <c:pt idx="16">
                  <c:v>0.29999999999999899</c:v>
                </c:pt>
                <c:pt idx="17">
                  <c:v>0.249999999999999</c:v>
                </c:pt>
                <c:pt idx="18">
                  <c:v>0.19999999999999901</c:v>
                </c:pt>
                <c:pt idx="19">
                  <c:v>0.149999999999999</c:v>
                </c:pt>
                <c:pt idx="20">
                  <c:v>9.9999999999999006E-2</c:v>
                </c:pt>
                <c:pt idx="21">
                  <c:v>4.9999999999998997E-2</c:v>
                </c:pt>
                <c:pt idx="22">
                  <c:v>0.02</c:v>
                </c:pt>
                <c:pt idx="23">
                  <c:v>0.01</c:v>
                </c:pt>
              </c:numCache>
            </c:numRef>
          </c:xVal>
          <c:yVal>
            <c:numRef>
              <c:f>'PFR vs CSTR'!$H$5:$H$28</c:f>
              <c:numCache>
                <c:formatCode>0.00</c:formatCode>
                <c:ptCount val="24"/>
                <c:pt idx="0">
                  <c:v>29.399999999999981</c:v>
                </c:pt>
                <c:pt idx="1">
                  <c:v>16.79999999999999</c:v>
                </c:pt>
                <c:pt idx="2">
                  <c:v>12.533333333333328</c:v>
                </c:pt>
                <c:pt idx="3">
                  <c:v>10.350000000000001</c:v>
                </c:pt>
                <c:pt idx="4">
                  <c:v>9.0000000000000018</c:v>
                </c:pt>
                <c:pt idx="5">
                  <c:v>7.0833333333333321</c:v>
                </c:pt>
                <c:pt idx="6">
                  <c:v>6</c:v>
                </c:pt>
                <c:pt idx="7">
                  <c:v>5.25</c:v>
                </c:pt>
                <c:pt idx="8">
                  <c:v>4.6666666666666661</c:v>
                </c:pt>
                <c:pt idx="9">
                  <c:v>4.1785714285714288</c:v>
                </c:pt>
                <c:pt idx="10">
                  <c:v>3.75</c:v>
                </c:pt>
                <c:pt idx="11">
                  <c:v>3.3611111111111116</c:v>
                </c:pt>
                <c:pt idx="12">
                  <c:v>3</c:v>
                </c:pt>
                <c:pt idx="13">
                  <c:v>2.6590909090909083</c:v>
                </c:pt>
                <c:pt idx="14">
                  <c:v>2.3333333333333335</c:v>
                </c:pt>
                <c:pt idx="15">
                  <c:v>2.0192307692307692</c:v>
                </c:pt>
                <c:pt idx="16">
                  <c:v>1.7142857142857073</c:v>
                </c:pt>
                <c:pt idx="17">
                  <c:v>1.4166666666666607</c:v>
                </c:pt>
                <c:pt idx="18">
                  <c:v>1.1249999999999942</c:v>
                </c:pt>
                <c:pt idx="19">
                  <c:v>0.83823529411764142</c:v>
                </c:pt>
                <c:pt idx="20">
                  <c:v>0.55555555555554992</c:v>
                </c:pt>
                <c:pt idx="21">
                  <c:v>0.27631578947367863</c:v>
                </c:pt>
                <c:pt idx="22">
                  <c:v>0.11020408163265306</c:v>
                </c:pt>
                <c:pt idx="23">
                  <c:v>5.5050505050505051E-2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E09-7146-BFF3-60834FA725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0127103"/>
        <c:axId val="280127999"/>
      </c:scatterChart>
      <c:valAx>
        <c:axId val="2801271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0127999"/>
        <c:crosses val="autoZero"/>
        <c:crossBetween val="midCat"/>
      </c:valAx>
      <c:valAx>
        <c:axId val="280127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tau</a:t>
                </a:r>
                <a:r>
                  <a:rPr lang="en-US" baseline="0"/>
                  <a:t> (min)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01271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Helvetica Neue" panose="02000503000000020004" pitchFamily="2" charset="0"/>
              </a:defRPr>
            </a:lvl1pPr>
          </a:lstStyle>
          <a:p>
            <a:fld id="{ABD6C9D3-2CF2-7B42-BF40-5293FECAD210}" type="datetimeFigureOut">
              <a:rPr lang="en-US" smtClean="0"/>
              <a:pPr/>
              <a:t>3/12/26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Helvetica Neue" panose="02000503000000020004" pitchFamily="2" charset="0"/>
              </a:defRPr>
            </a:lvl1pPr>
          </a:lstStyle>
          <a:p>
            <a:fld id="{BAA2E919-1D5B-1849-B333-ABF4748475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76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Helvetica Neue" panose="0200050300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Helvetica Neue" panose="0200050300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Helvetica Neue" panose="0200050300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Helvetica Neue" panose="0200050300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Helvetica Neue" panose="02000503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0A7C-1ED4-CF23-D744-848A34BE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5D712-469B-BE8F-EC9F-54E5365E1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36C47-8FA4-CCD4-FD68-2556F2C6E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351C2-3E4C-8DC5-BD83-D4B474731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16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C5C5-D509-83CF-0984-99505924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16066-5D8F-2B2F-BEB6-154CB90AE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10B65-C1F5-FBD9-83D1-C457573EF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E84A5-B53E-E5F4-3DC7-FFAC31CC3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17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68CA3-1ED4-D2EF-E53E-7E8D006C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15767-D442-0376-D834-7DB3597AF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47289-9A33-3A97-2E30-C3CB7A444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88875-C70B-4281-62D3-D00CC57C7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02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12A08-779E-771E-B469-31DB2A18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2F231-53B3-AB9F-1267-EE70B888E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2825A-8DCA-C685-0607-76CBF05D3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B7B3A-F1ED-9386-B153-5D93792AF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69226-A70B-106D-6096-9692104C6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61D78-DB6B-0107-3C02-FB928BCE5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2460A-F839-58B0-D644-94F5C450E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EB96F-E87A-5452-765C-5D6B056B4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64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5E97-F77F-44B2-8018-7C7785A5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C4FAF-16D1-15B3-B61A-E4267A09F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6A3D4-285E-5811-3C42-0050DCED1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E74A5-C868-70E6-A4AB-F0DBE9BD3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59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1CC65-28E0-4AA6-035E-6D781803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FE246-8A0C-6A58-918D-4CCA6EBCE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53C6A-E1F8-93B9-EC58-E183C1EFC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5EA96-2540-1063-0C97-86865D3A2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80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33654-20FA-3822-2C09-89113EB49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99E79C-549A-9DC6-3E0F-4CAC9FEFA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0AA6F-3CC4-8D1B-EEC6-B1C320035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A8C93-4F4B-A523-DE19-855740FA7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44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C0E0-49BE-D888-54F3-2E28AEE8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BE94A-7835-87EF-AD52-F6ACB4693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6C56B-EFB5-5F0C-57BA-235E35CCE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47284-7370-BB9F-FA84-425938A78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22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CB86B-12BA-2CBC-5799-7BBF8C58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AA648-A5C2-606C-A11D-1648FDBF4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B9D15-F184-379E-DC62-D91729682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139CF-4862-2E29-9CEA-CF1956931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2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E1C0B-CA32-35E6-E2B3-A5D65803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FBCFE-48D5-9D36-7BA0-C5EC751AD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7A7A1-3047-9EC5-8D70-41B538128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9FB34-5C33-6845-7066-C7ABAF6A4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8CED6A-CE95-B749-ACEF-1BE89C92BA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443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6377-BD7B-AAC6-FCBF-48677712D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0B95C0-26D9-1383-D1DB-359FDD9BC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863A8-E5E0-B9F1-8CE2-D1541AEB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50485-5ED6-AB05-B9C9-E90BF84F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E6805-12D6-06FA-BF65-8E73931C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8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2E60-6EA4-8B3A-480E-758D533A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22B9-DFC3-3D8C-788A-D1AC111E9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5F6FC-3CA7-5766-1A53-EB7DD94C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5FA5F-5A02-9CD7-E7AD-239E5695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A1ED5-9769-80F5-19A8-049A3FA6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8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AF30A-3E77-CCBC-E331-648E73F4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5AD5E-1CE1-7A18-A7A0-3AF0A72C4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8707-E273-91B9-98A2-277DBFDE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7B4C5-C92E-1CE6-1606-912FFDB9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21B13-2BDF-4A58-CC69-E445028D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5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E896-3179-E40F-4633-2D938146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BAD1-2241-D45D-E927-599AAF46A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08E68-2D04-D973-1CA5-7AD60B855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5C4B6-9D8D-54C8-2AE1-81A8B5EF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56A96-999D-532E-A6FB-5638EFE5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47EAF-3A99-2807-8EE5-8861BCA8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8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F72A-8B76-3204-9C92-15188E114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A81D2-1982-9C70-35DD-78107C94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DD790-5957-F422-A24B-0FEDFE688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2C698-3035-DCBC-3EFF-6B21F095A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66D4B-373A-83FE-8189-A6C7D4569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240C8-CE6C-4D2C-8348-AB2858FC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B1B69-D493-A094-BC2F-326A75B9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8653C-389E-F23C-519D-CCC7112E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6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023C-12EE-5A25-3F64-CF0AE4CA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963A1-6D1C-4849-B331-26DD4D5E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B9E73-9029-CC83-8C9B-36FD466B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5F3CD-F56C-ECDD-DB34-FF056A78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3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0E493-C9F8-B99D-4A57-B4029188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AD874-C3A7-2412-DA1D-F13A5650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1DFAD-F878-D551-1AB3-D5325314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81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0FA96-0CF6-5B49-74E6-EA80DA10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1A29B-C2A4-B5C0-ACED-C655EBB49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7CDD0-F18A-499F-A710-EEAE2DF79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91C4E-6992-5A42-36EA-914926C4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A41ED-CABE-819A-409D-63CF578E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C16B4-BADC-B917-70F5-126BEAC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0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39C5-F945-F480-01B1-2E61AE612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EF916-AAC4-ED42-75CF-3EF03ACA0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7C2CD-06D3-4DDD-2078-9CD70D4E1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C245B-E03D-DC0B-340C-A2B752E7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09B75-B35F-27FC-D9C2-6ED812E80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EB91E-10C4-EF34-02E1-1AFA44F3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10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B97A-2162-0A78-9731-FAC0527E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2A3F0-90B9-9CDB-A608-D08BC11AF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133E2-BD14-7508-2449-D2ACCBF5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CAE53-F96F-1192-9508-3E9A105A1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1792C-D8E1-D19B-13B7-1A2142B6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8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537D9-5F44-E3D2-D7E6-66D7C0FAB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32293-C05B-BCDB-3328-61C855F09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C21D4-76D6-427F-D011-FF8B5399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44B3-149D-A24A-A3DC-AD34B618E13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FD31C-2E2A-C1FE-4077-619E2437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51314-92B1-F035-FF7F-AABB26C1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B015-5BE5-9D44-8EE1-BD6D5336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4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5A9FE-CCF8-927B-3535-395D36873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28FD6-C093-90E8-81C6-0E6E0291A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4EF50-551B-7ABC-64CA-A066BEEAB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fld id="{67E044B3-149D-A24A-A3DC-AD34B618E13A}" type="datetimeFigureOut">
              <a:rPr lang="en-US" smtClean="0"/>
              <a:pPr/>
              <a:t>3/12/26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4D35-53F8-0B37-AFC8-FADEBB495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911AA-4D96-DD08-DB20-6FD56D9B2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Neue" panose="02000503000000020004" pitchFamily="2" charset="0"/>
              </a:defRPr>
            </a:lvl1pPr>
          </a:lstStyle>
          <a:p>
            <a:fld id="{3B1FB015-5BE5-9D44-8EE1-BD6D5336AB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4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 Neue" panose="0200050300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Neue" panose="02000503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27662-AC08-312F-F464-28462DFA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468BBCC-DC95-2A7A-A667-E4A5241A3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1998" cy="6678944"/>
              </a:xfrm>
            </p:spPr>
            <p:txBody>
              <a:bodyPr wrap="square">
                <a:spAutoFit/>
              </a:bodyPr>
              <a:lstStyle/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Link to process design – back to basics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Accumulation = In − Out + Reaction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let’s assume constant volume,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𝑉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(with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</m:e>
                    </m:acc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as flow rate) and with enzyme 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𝑣</m:t>
                    </m:r>
                    <m:d>
                      <m:d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𝑎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𝑀</m:t>
                            </m:r>
                          </m:sub>
                        </m:s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+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𝑎</m:t>
                        </m:r>
                      </m:den>
                    </m:f>
                  </m:oMath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f>
                        <m:f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𝑑𝑎</m:t>
                          </m:r>
                        </m:num>
                        <m:den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𝑑𝑡</m:t>
                          </m:r>
                        </m:den>
                      </m:f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sSub>
                        <m:sSub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sSub>
                        <m:sSub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+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we can also reason in term of conversion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𝑋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 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        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𝑋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(1−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𝑋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2352675" indent="0">
                  <a:lnSpc>
                    <a:spcPct val="150000"/>
                  </a:lnSpc>
                  <a:buNone/>
                </a:pPr>
                <a:b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Relevant design parameters:	- target conversion 	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𝑋</m:t>
                    </m:r>
                  </m:oMath>
                </a14:m>
                <a:r>
                  <a:rPr lang="en-US" sz="1800" dirty="0"/>
                  <a:t>	</a:t>
                </a:r>
                <a:br>
                  <a:rPr lang="en-US" sz="1800" dirty="0"/>
                </a:br>
                <a:r>
                  <a:rPr lang="en-US" sz="1800" dirty="0"/>
                  <a:t>				- throughput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			- reactor volume		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𝑉</m:t>
                    </m:r>
                  </m:oMath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type m:val="skw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</m:num>
                      <m:den>
                        <m:acc>
                          <m:accPr>
                            <m:chr m:val="̇"/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residence time, links everything together</a:t>
                </a:r>
                <a:endParaRPr lang="en-US" sz="1800" i="1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468BBCC-DC95-2A7A-A667-E4A5241A3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1998" cy="6678944"/>
              </a:xfrm>
              <a:blipFill>
                <a:blip r:embed="rId3"/>
                <a:stretch>
                  <a:fillRect b="-10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2888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FE25-DF0A-BB6A-60FA-2CDC68EC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F0686B-344D-5F5A-6ACB-7D63207767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1998" cy="5080686"/>
              </a:xfrm>
            </p:spPr>
            <p:txBody>
              <a:bodyPr wrap="square">
                <a:spAutoFit/>
              </a:bodyPr>
              <a:lstStyle/>
              <a:p>
                <a:pPr marL="0" lvl="0" indent="0" algn="ctr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Batch reactor</a:t>
                </a: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f>
                        <m:f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𝑑𝑎</m:t>
                          </m:r>
                        </m:num>
                        <m:den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𝑑𝑡</m:t>
                          </m:r>
                        </m:den>
                      </m:f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+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no</m:t>
                          </m:r>
                          <m: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𝑛</m:t>
                          </m:r>
                          <m:r>
                            <m:rPr>
                              <m:brk m:alnAt="2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and</m:t>
                          </m:r>
                          <m: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𝑜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𝑢𝑡</m:t>
                          </m:r>
                          <m:r>
                            <m:rPr>
                              <m:brk m:alnAt="2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flow</m:t>
                          </m:r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</m:e>
                      </m:groupCh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f>
                        <m:f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𝑑𝑎</m:t>
                          </m:r>
                        </m:num>
                        <m:den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𝑑𝑡</m:t>
                          </m:r>
                        </m:den>
                      </m:f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f>
                        <m:f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sz="1800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d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sz="1800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d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𝑡</m:t>
                          </m:r>
                        </m:den>
                      </m:f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𝑣</m:t>
                      </m:r>
                      <m:d>
                        <m:d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</m:d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⟹</m:t>
                      </m:r>
                      <m:r>
                        <m:rPr>
                          <m:sty m:val="p"/>
                        </m:rPr>
                        <a:rPr lang="it-IT" sz="1800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d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𝑡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=−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sz="1800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d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num>
                        <m:den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  <m:r>
                            <m:rPr>
                              <m:sty m:val="p"/>
                              <m:brk m:alnAt="2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ntegrate</m:t>
                          </m:r>
                          <m: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from</m:t>
                          </m:r>
                          <m: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𝑡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=0 </m:t>
                          </m:r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"/>
                                    </m:rP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2"/>
                                    </m:rP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m:rPr>
                              <m:sty m:val="p"/>
                              <m:brk m:alnAt="2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o</m:t>
                          </m:r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𝑡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"/>
                                </m:r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</m:e>
                      </m:groupCh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𝑡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it-IT" sz="1800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d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translated: the time needed to go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is the area under the curve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n-US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r>
                          <a:rPr lang="en-US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𝑣</m:t>
                        </m:r>
                        <m:d>
                          <m:dPr>
                            <m:ctrlPr>
                              <a:rPr lang="en-US" sz="180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sz="180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</a:t>
                </a:r>
                <a:r>
                  <a:rPr lang="en-US" sz="1800" i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vs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, between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</m:oMath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general cases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0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th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order: </a:t>
                </a:r>
                <a14:m>
                  <m:oMath xmlns:m="http://schemas.openxmlformats.org/officeDocument/2006/math">
                    <m:r>
                      <a:rPr lang="en-US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𝑣</m:t>
                    </m:r>
                    <m:d>
                      <m:dPr>
                        <m:ctrlP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𝑘</m:t>
                    </m:r>
                    <m:r>
                      <a:rPr lang="it-IT" sz="180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     </m:t>
                        </m:r>
                      </m:e>
                    </m:groupCh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𝑡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num>
                      <m:den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			1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st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order: </a:t>
                </a:r>
                <a14:m>
                  <m:oMath xmlns:m="http://schemas.openxmlformats.org/officeDocument/2006/math">
                    <m:r>
                      <a:rPr lang="en-US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𝑣</m:t>
                    </m:r>
                    <m:d>
                      <m:dPr>
                        <m:ctrlP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𝑘𝑎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     </m:t>
                        </m:r>
                      </m:e>
                    </m:groupCh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𝑡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𝑘</m:t>
                        </m:r>
                      </m:den>
                    </m:f>
                    <m:func>
                      <m:func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800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den>
                        </m:f>
                      </m:e>
                    </m:func>
                  </m:oMath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F0686B-344D-5F5A-6ACB-7D63207767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1998" cy="5080686"/>
              </a:xfrm>
              <a:blipFill>
                <a:blip r:embed="rId3"/>
                <a:stretch>
                  <a:fillRect t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687DC4A0-20EE-F560-2563-A2637D134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33" y="4619942"/>
            <a:ext cx="3730100" cy="2238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AB89E1-55C6-F6C6-7D55-F791391F6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542" y="4619942"/>
            <a:ext cx="3730100" cy="223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2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913C-60B1-B964-521A-9670FFD79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2F63626-3C8F-925C-3C57-599E9A3996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" y="0"/>
                <a:ext cx="12191998" cy="6826164"/>
              </a:xfrm>
            </p:spPr>
            <p:txBody>
              <a:bodyPr wrap="square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Batch reactor; let’s plug-in the MM</a:t>
                </a: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𝑡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it-IT" sz="1800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d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 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+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  </m:t>
                          </m:r>
                        </m:e>
                      </m:groupCh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        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𝑡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sz="1800" b="0" i="1" noProof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Helvetica Neue" panose="02000503000000020004" pitchFamily="2" charset="0"/>
                                          <a:sym typeface="Wingdings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b="0" i="1" noProof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Helvetica Neue" panose="02000503000000020004" pitchFamily="2" charset="0"/>
                                          <a:sym typeface="Wingdings" pitchFamily="2" charset="2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it-IT" sz="1800" b="0" i="1" noProof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Helvetica Neue" panose="02000503000000020004" pitchFamily="2" charset="0"/>
                                          <a:sym typeface="Wingdings" pitchFamily="2" charset="2"/>
                                        </a:rPr>
                                        <m:t>𝑀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𝑑𝑎</m:t>
                          </m:r>
                        </m:e>
                      </m:nary>
                    </m:oMath>
                  </m:oMathPara>
                </a14:m>
                <a:b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𝑡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</m:d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+</m:t>
                        </m:r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  <m:func>
                          <m:func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sz="1800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  <a:sym typeface="Wingdings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  <a:sym typeface="Wingdings" pitchFamily="2" charset="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  <a:sym typeface="Wingdings" pitchFamily="2" charset="2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   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𝑡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it-IT" sz="1800" i="1" noProof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r>
                          <a:rPr lang="it-IT" sz="1800" i="1" noProof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it-IT" sz="18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b="0" i="1" noProof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b="0" i="1" noProof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it-IT" sz="1800" i="1" noProof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800" noProof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1800" i="1" noProof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sz="1800" i="1" noProof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noProof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i="1" noProof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sz="1800" i="1" noProof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    the sum of 0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th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and 1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st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like terms (emerging at limiting cases)</a:t>
                </a:r>
              </a:p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  </a:t>
                </a: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	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0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th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when </a:t>
                </a:r>
                <a14:m>
                  <m:oMath xmlns:m="http://schemas.openxmlformats.org/officeDocument/2006/math"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≫</m:t>
                    </m:r>
                    <m:sSub>
                      <m:sSub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𝐾</m:t>
                        </m:r>
                      </m:e>
                      <m:sub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𝑀</m:t>
                        </m:r>
                      </m:sub>
                    </m:sSub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</m:t>
                        </m:r>
                      </m:e>
                    </m:groupCh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en-US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𝑣</m:t>
                    </m:r>
                    <m:d>
                      <m:dPr>
                        <m:ctrlP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𝑘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≈</m:t>
                    </m:r>
                    <m:sSub>
                      <m:sSub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</m:e>
                      <m: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𝑚𝑎𝑥</m:t>
                        </m:r>
                      </m:sub>
                    </m:sSub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it-IT" sz="1800" noProof="1">
                    <a:solidFill>
                      <a:schemeClr val="tx1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1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st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when </a:t>
                </a:r>
                <a14:m>
                  <m:oMath xmlns:m="http://schemas.openxmlformats.org/officeDocument/2006/math"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≪</m:t>
                    </m:r>
                    <m:sSub>
                      <m:sSub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𝐾</m:t>
                        </m:r>
                      </m:e>
                      <m:sub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𝑀</m:t>
                        </m:r>
                      </m:sub>
                    </m:sSub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</m:t>
                        </m:r>
                      </m:e>
                    </m:groupCh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en-US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𝑣</m:t>
                    </m:r>
                    <m:d>
                      <m:dPr>
                        <m:ctrlP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𝑘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≈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den>
                    </m:f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endParaRPr lang="it-IT" sz="1800" noProof="1">
                  <a:solidFill>
                    <a:schemeClr val="tx1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1800" noProof="1">
                    <a:solidFill>
                      <a:schemeClr val="tx1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</a:t>
                </a:r>
                <a:endParaRPr lang="it-IT" sz="1800" noProof="1"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1800" noProof="1">
                    <a:solidFill>
                      <a:schemeClr val="tx1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𝑡</m:t>
                    </m:r>
                    <m:r>
                      <a:rPr lang="it-IT" sz="1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					</a:t>
                </a:r>
                <a:r>
                  <a:rPr lang="it-IT" sz="1800" noProof="1">
                    <a:solidFill>
                      <a:schemeClr val="tx1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				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𝑡</m:t>
                    </m:r>
                    <m:r>
                      <a:rPr lang="it-IT" sz="1800" b="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800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1800" i="1" noProof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sz="1800" i="1" noProof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noProof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i="1" noProof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sz="1800" i="1" noProof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it-IT" sz="1800" i="1" noProof="1"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it-IT" sz="1800" i="1" noProof="1">
                    <a:latin typeface="Cambria Math" panose="02040503050406030204" pitchFamily="18" charset="0"/>
                    <a:cs typeface="Helvetica Neue" panose="02000503000000020004" pitchFamily="2" charset="0"/>
                    <a:sym typeface="Wingdings" pitchFamily="2" charset="2"/>
                  </a:rPr>
                </a:br>
                <a:endParaRPr lang="it-IT" sz="1800" i="1" noProof="1"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it-IT" sz="1800" i="1" noProof="1"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it-IT" sz="1800" noProof="1">
                    <a:ea typeface="Helvetica Neue" panose="02000503000000020004" pitchFamily="2" charset="0"/>
                    <a:cs typeface="Helvetica Neue" panose="02000503000000020004" pitchFamily="2" charset="0"/>
                    <a:sym typeface="Wingdings" pitchFamily="2" charset="2"/>
                  </a:rPr>
                  <a:t> also, for normalized concentration over time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it-IT" sz="1800" noProof="1">
                  <a:ea typeface="Helvetica Neue" panose="02000503000000020004" pitchFamily="2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1800" i="1" noProof="1">
                    <a:ea typeface="Helvetica Neue" panose="02000503000000020004" pitchFamily="2" charset="0"/>
                    <a:cs typeface="Helvetica Neue" panose="02000503000000020004" pitchFamily="2" charset="0"/>
                    <a:sym typeface="Wingdings" pitchFamily="2" charset="2"/>
                  </a:rPr>
                  <a:t>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−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𝑡</m:t>
                    </m:r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+1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(</a:t>
                </a:r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decrease linearly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)			</a:t>
                </a:r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it-IT" sz="1800" b="0" i="0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sSup>
                      <m:sSupPr>
                        <m:ctrlPr>
                          <a:rPr lang="it-IT" sz="1800" b="0" i="1" noProof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it-IT" sz="1800" b="0" i="1" noProof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𝑒</m:t>
                        </m:r>
                      </m:e>
                      <m:sup>
                        <m:r>
                          <a:rPr lang="it-IT" sz="1800" b="0" i="1" noProof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 </m:t>
                        </m:r>
                        <m:r>
                          <a:rPr lang="it-IT" sz="1800" b="0" i="1" noProof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𝑡</m:t>
                        </m:r>
                        <m:r>
                          <a:rPr lang="it-IT" sz="1800" b="0" i="1" noProof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f>
                          <m:fPr>
                            <m:ctrlP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sz="1800" b="0" i="1" noProof="1" smtClean="0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b="0" i="1" noProof="1" smtClean="0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800" b="0" i="1" noProof="1" smtClean="0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𝑚𝑎𝑥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it-IT" sz="1800" b="0" i="1" noProof="1" smtClean="0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b="0" i="1" noProof="1" smtClean="0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it-IT" sz="1800" b="0" i="1" noProof="1" smtClean="0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𝑀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(exponential decay)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2F63626-3C8F-925C-3C57-599E9A3996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" y="0"/>
                <a:ext cx="12191998" cy="6826164"/>
              </a:xfrm>
              <a:blipFill>
                <a:blip r:embed="rId3"/>
                <a:stretch>
                  <a:fillRect t="-4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11BF28E-2E1F-053A-55C6-EA3908B70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261" y="3566097"/>
            <a:ext cx="3450924" cy="2070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0A6751-DDB1-0937-96F9-2CFCF2CA4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578" y="3566097"/>
            <a:ext cx="3450924" cy="207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6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8B14-13BB-853E-0CDF-B8B40A174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9AF279-8E82-B769-4C1E-D54B380CE0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" y="0"/>
                <a:ext cx="12191998" cy="5330947"/>
              </a:xfrm>
            </p:spPr>
            <p:txBody>
              <a:bodyPr wrap="square">
                <a:sp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Batch reactor; let’s plug-in the MM</a:t>
                </a: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𝑡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it-IT" sz="1800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d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 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+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  </m:t>
                          </m:r>
                        </m:e>
                      </m:groupCh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        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𝑡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sub>
                        <m:sup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sz="1800" b="0" i="1" noProof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Helvetica Neue" panose="02000503000000020004" pitchFamily="2" charset="0"/>
                                          <a:sym typeface="Wingdings" pitchFamily="2" charset="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b="0" i="1" noProof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Helvetica Neue" panose="02000503000000020004" pitchFamily="2" charset="0"/>
                                          <a:sym typeface="Wingdings" pitchFamily="2" charset="2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it-IT" sz="1800" b="0" i="1" noProof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Helvetica Neue" panose="02000503000000020004" pitchFamily="2" charset="0"/>
                                          <a:sym typeface="Wingdings" pitchFamily="2" charset="2"/>
                                        </a:rPr>
                                        <m:t>𝑀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𝑑𝑎</m:t>
                          </m:r>
                        </m:e>
                      </m:nary>
                    </m:oMath>
                  </m:oMathPara>
                </a14:m>
                <a:b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𝑡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</m:d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+</m:t>
                        </m:r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  <m:func>
                          <m:func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sz="1800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  <a:sym typeface="Wingdings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  <a:sym typeface="Wingdings" pitchFamily="2" charset="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  <a:sym typeface="Wingdings" pitchFamily="2" charset="2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   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𝑡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</m:t>
                            </m:r>
                          </m:sub>
                        </m:sSub>
                        <m:r>
                          <a:rPr lang="it-IT" sz="1800" i="1" noProof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r>
                          <a:rPr lang="it-IT" sz="1800" i="1" noProof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it-IT" sz="1800" b="0" i="1" noProof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b="0" i="1" noProof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b="0" i="1" noProof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it-IT" sz="1800" i="1" noProof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800" noProof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it-IT" sz="1800" i="1" noProof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1800" i="1" noProof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sz="1800" i="1" noProof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noProof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i="1" noProof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sz="1800" i="1" noProof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    the sum of 0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th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and 1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st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like terms (emerging at limiting cases)</a:t>
                </a:r>
              </a:p>
              <a:p>
                <a:pPr marL="0" lvl="0" indent="0">
                  <a:lnSpc>
                    <a:spcPct val="100000"/>
                  </a:lnSpc>
                  <a:buNone/>
                </a:pPr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  </a:t>
                </a: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	plugging-in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(1−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𝑋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𝑡</m:t>
                      </m:r>
                      <m:d>
                        <m:d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d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𝑋</m:t>
                          </m:r>
                        </m:e>
                      </m:d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=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𝑋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+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𝑚𝑎𝑥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1−</m:t>
                                  </m:r>
                                  <m:r>
                                    <a:rPr lang="it-IT" sz="1800" b="0" i="1" noProof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𝑋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9AF279-8E82-B769-4C1E-D54B380CE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" y="0"/>
                <a:ext cx="12191998" cy="5330947"/>
              </a:xfrm>
              <a:blipFill>
                <a:blip r:embed="rId3"/>
                <a:stretch>
                  <a:fillRect t="-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722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02FE-9FAC-93BF-6EAD-1E2077E3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86E0A09-03F7-8AFE-60E0-CBA7CE5D1E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1998" cy="6150658"/>
              </a:xfrm>
            </p:spPr>
            <p:txBody>
              <a:bodyPr wrap="square">
                <a:spAutoFit/>
              </a:bodyPr>
              <a:lstStyle/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dirty="0"/>
                  <a:t>Continuous reactor: CSTR </a:t>
                </a: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:r>
                  <a:rPr lang="en-US" sz="1800" dirty="0"/>
                  <a:t>Continuous Stirred-Tank Reactor: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continuous inlet and outlet flow, at steady state  no accumulation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b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perfect mixing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inside (</a:t>
                </a:r>
                <a14:m>
                  <m:oMath xmlns:m="http://schemas.openxmlformats.org/officeDocument/2006/math">
                    <m:r>
                      <a:rPr lang="en-US" sz="180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everywhere in the tank is the same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𝑡𝑎𝑛𝑘</m:t>
                        </m:r>
                      </m:sub>
                    </m:sSub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≡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)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:endParaRPr lang="it-IT" sz="1800" b="0" i="1" noProof="1">
                  <a:solidFill>
                    <a:prstClr val="black"/>
                  </a:solidFill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0=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𝑜𝑢𝑡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+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it-IT" sz="180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</m:d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𝑣</m:t>
                      </m:r>
                      <m:d>
                        <m:d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</m:d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𝜏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=</m:t>
                          </m:r>
                          <m:f>
                            <m:fPr>
                              <m:type m:val="skw"/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𝑉</m:t>
                              </m:r>
                            </m:num>
                            <m:den>
                              <m:acc>
                                <m:accPr>
                                  <m:chr m:val="̇"/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𝑉</m:t>
                                  </m:r>
                                </m:e>
                              </m:acc>
                            </m:den>
                          </m:f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 </m:t>
                          </m:r>
                        </m:e>
                      </m:groupCh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</m:t>
                      </m:r>
                      <m:sSub>
                        <m:sSub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𝑣</m:t>
                      </m:r>
                      <m:d>
                        <m:d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</m:d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 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+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  </m:t>
                          </m:r>
                        </m:e>
                      </m:groupCh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     </m:t>
                      </m:r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f>
                        <m:f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+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b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here we don’t need to integrate, we measure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thanks to perfect mixing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86E0A09-03F7-8AFE-60E0-CBA7CE5D1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1998" cy="6150658"/>
              </a:xfrm>
              <a:blipFill>
                <a:blip r:embed="rId3"/>
                <a:stretch>
                  <a:fillRect l="-416" b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File:Continuous bach reactor CSTR.svg - Wikipedia">
            <a:extLst>
              <a:ext uri="{FF2B5EF4-FFF2-40B4-BE49-F238E27FC236}">
                <a16:creationId xmlns:a16="http://schemas.microsoft.com/office/drawing/2014/main" id="{57DDFA16-3B91-01D7-A911-B7473A6D3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321" y="0"/>
            <a:ext cx="2265680" cy="28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9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F851-FF30-042B-A863-CA3C5D1E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7A88820-E929-CE61-0378-23F541366D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1998" cy="5758821"/>
              </a:xfrm>
            </p:spPr>
            <p:txBody>
              <a:bodyPr wrap="square">
                <a:spAutoFit/>
              </a:bodyPr>
              <a:lstStyle/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dirty="0"/>
                  <a:t>Continuous reactor: CSTR </a:t>
                </a: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:r>
                  <a:rPr lang="en-US" sz="1800" dirty="0"/>
                  <a:t>Continuous Stirred-Tank Reactor: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continuous inlet and outlet flow, at steady state  no accumulation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b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perfect mixing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inside (</a:t>
                </a:r>
                <a14:m>
                  <m:oMath xmlns:m="http://schemas.openxmlformats.org/officeDocument/2006/math">
                    <m:r>
                      <a:rPr lang="en-US" sz="180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everywhere in the tank is the same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𝑡𝑎𝑛𝑘</m:t>
                        </m:r>
                      </m:sub>
                    </m:sSub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≡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)</a:t>
                </a: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:endParaRPr lang="it-IT" sz="1800" i="1" noProof="1">
                  <a:solidFill>
                    <a:prstClr val="black"/>
                  </a:solidFill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𝑣</m:t>
                      </m:r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</m:d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 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+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  </m:t>
                          </m:r>
                        </m:e>
                      </m:groupCh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f>
                        <m:f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+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b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- need a specific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?  compute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and get the needed volume  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𝑉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acc>
                      <m:accPr>
                        <m:chr m:val="̇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acc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</m:e>
                    </m:acc>
                  </m:oMath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- need 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from fixed process parameters?</a:t>
                </a:r>
              </a:p>
              <a:p>
                <a:pPr lvl="2">
                  <a:lnSpc>
                    <a:spcPct val="150000"/>
                  </a:lnSpc>
                  <a:buFont typeface="Wingdings" pitchFamily="2" charset="2"/>
                  <a:buChar char="à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you get a quadratic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, just select the reasonable root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0&lt;</m:t>
                            </m:r>
                            <m:sSub>
                              <m:sSubPr>
                                <m:ctrlPr>
                                  <a:rPr lang="it-IT" sz="1800" b="0" i="1" noProof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b="0" i="1" noProof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it-IT" sz="1800" b="0" i="1" noProof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𝑜𝑢𝑡</m:t>
                                </m:r>
                              </m:sub>
                            </m:sSub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&lt;</m:t>
                            </m:r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e>
                    </m:d>
                  </m:oMath>
                </a14:m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7A88820-E929-CE61-0378-23F541366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1998" cy="5758821"/>
              </a:xfrm>
              <a:blipFill>
                <a:blip r:embed="rId3"/>
                <a:stretch>
                  <a:fillRect l="-416" b="-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File:Continuous bach reactor CSTR.svg - Wikipedia">
            <a:extLst>
              <a:ext uri="{FF2B5EF4-FFF2-40B4-BE49-F238E27FC236}">
                <a16:creationId xmlns:a16="http://schemas.microsoft.com/office/drawing/2014/main" id="{17222690-1249-3313-FE9B-8980F9862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321" y="0"/>
            <a:ext cx="2265680" cy="28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0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F371-E26B-4A63-896C-653A38E1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F8D06C0-F69F-A02B-69F9-3FCECBD20C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1998" cy="6733190"/>
              </a:xfrm>
            </p:spPr>
            <p:txBody>
              <a:bodyPr wrap="square">
                <a:spAutoFit/>
              </a:bodyPr>
              <a:lstStyle/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dirty="0"/>
                  <a:t>Continuous reactor: CSTR </a:t>
                </a: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:r>
                  <a:rPr lang="en-US" sz="1800" dirty="0"/>
                  <a:t>Continuous Stirred-Tank Reactor: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continuous inlet and outlet flow, at steady state  no accumulation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b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perfect mixing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inside (</a:t>
                </a:r>
                <a14:m>
                  <m:oMath xmlns:m="http://schemas.openxmlformats.org/officeDocument/2006/math">
                    <m:r>
                      <a:rPr lang="en-US" sz="180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everywhere in the tank is the same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𝑡𝑎𝑛𝑘</m:t>
                        </m:r>
                      </m:sub>
                    </m:sSub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≡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it-IT" sz="1800" b="0" i="1" noProof="1">
                  <a:solidFill>
                    <a:prstClr val="black"/>
                  </a:solidFill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𝑣</m:t>
                      </m:r>
                      <m:d>
                        <m:d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</m:d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 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+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  </m:t>
                          </m:r>
                        </m:e>
                      </m:groupCh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     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</a:rPr>
                        <m:t>    </m:t>
                      </m:r>
                      <m:sSub>
                        <m:sSub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𝑖𝑛</m:t>
                          </m:r>
                        </m:sub>
                      </m:sSub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f>
                        <m:f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+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- 0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th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when </a:t>
                </a:r>
                <a14:m>
                  <m:oMath xmlns:m="http://schemas.openxmlformats.org/officeDocument/2006/math"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≫</m:t>
                    </m:r>
                    <m:sSub>
                      <m:sSub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𝐾</m:t>
                        </m:r>
                      </m:e>
                      <m:sub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𝑀</m:t>
                        </m:r>
                      </m:sub>
                    </m:sSub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en-US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𝑣</m:t>
                    </m:r>
                    <m:d>
                      <m:dPr>
                        <m:ctrlP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𝑘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≈</m:t>
                    </m:r>
                    <m:sSub>
                      <m:sSub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</m:e>
                      <m:sub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𝑚𝑎𝑥</m:t>
                        </m:r>
                      </m:sub>
                    </m:sSub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 		and 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=−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+1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</a:t>
                </a:r>
                <a:b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-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1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st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when </a:t>
                </a:r>
                <a14:m>
                  <m:oMath xmlns:m="http://schemas.openxmlformats.org/officeDocument/2006/math">
                    <m:r>
                      <a:rPr lang="it-IT" sz="1800" b="1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𝒂</m:t>
                    </m:r>
                    <m:r>
                      <a:rPr lang="it-IT" sz="1800" b="1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≪</m:t>
                    </m:r>
                    <m:sSub>
                      <m:sSubPr>
                        <m:ctrlPr>
                          <a:rPr lang="it-IT" sz="1800" b="1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b="1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𝑲</m:t>
                        </m:r>
                      </m:e>
                      <m:sub>
                        <m:r>
                          <a:rPr lang="it-IT" sz="1800" b="1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𝑴</m:t>
                        </m:r>
                      </m:sub>
                    </m:sSub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r>
                      <a:rPr lang="en-US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𝑣</m:t>
                    </m:r>
                    <m:d>
                      <m:dPr>
                        <m:ctrlP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𝑘𝑎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≈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den>
                    </m:f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 </m:t>
                    </m:r>
                    <m:sSub>
                      <m:sSub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𝑖𝑛</m:t>
                        </m:r>
                      </m:sub>
                    </m:sSub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−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 </m:t>
                        </m:r>
                      </m:e>
                    </m:groupChr>
                    <m:r>
                      <a:rPr lang="it-IT" sz="1800" b="0" i="0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  <m:f>
                      <m:f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+1   </m:t>
                    </m:r>
                    <m:groupChr>
                      <m:groupChrPr>
                        <m:chr m:val="⇒"/>
                        <m:vertJc m:val="bot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       </m:t>
                        </m:r>
                      </m:e>
                    </m:groupCh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</m:t>
                    </m:r>
                    <m:f>
                      <m:f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</m:num>
                      <m:den>
                        <m:sSub>
                          <m:sSubPr>
                            <m:ctrlP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it-IT" sz="1800" b="0" i="0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𝜏</m:t>
                        </m:r>
                        <m:f>
                          <m:f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𝑚𝑎𝑥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𝑀</m:t>
                                </m:r>
                              </m:sub>
                            </m:sSub>
                          </m:den>
                        </m:f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+1</m:t>
                        </m:r>
                      </m:den>
                    </m:f>
                  </m:oMath>
                </a14:m>
                <a:endParaRPr lang="it-IT" sz="1800" b="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							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CSTR </a:t>
                </a:r>
                <a:r>
                  <a:rPr lang="en-US" sz="1800" noProof="1">
                    <a:sym typeface="Wingdings" pitchFamily="2" charset="2"/>
                  </a:rPr>
                  <a:t>at high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𝑋</m:t>
                    </m:r>
                  </m:oMath>
                </a14:m>
                <a:r>
                  <a:rPr lang="en-US" sz="1800" dirty="0"/>
                  <a:t> can be penalized; it runs entirely at lower rate determined by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F8D06C0-F69F-A02B-69F9-3FCECBD20C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1998" cy="6733190"/>
              </a:xfrm>
              <a:blipFill>
                <a:blip r:embed="rId3"/>
                <a:stretch>
                  <a:fillRect l="-416" b="-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File:Continuous bach reactor CSTR.svg - Wikipedia">
            <a:extLst>
              <a:ext uri="{FF2B5EF4-FFF2-40B4-BE49-F238E27FC236}">
                <a16:creationId xmlns:a16="http://schemas.microsoft.com/office/drawing/2014/main" id="{7E2AD72F-0A4B-2DF8-C882-4CF2E4400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321" y="0"/>
            <a:ext cx="2265680" cy="28627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A39196-F061-9F8E-F3CF-7D8858E7E417}"/>
              </a:ext>
            </a:extLst>
          </p:cNvPr>
          <p:cNvSpPr txBox="1"/>
          <p:nvPr/>
        </p:nvSpPr>
        <p:spPr>
          <a:xfrm>
            <a:off x="10078999" y="5725166"/>
            <a:ext cx="1960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noProof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(rectangular) hyperbolic decay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033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772F0-039B-005F-97CF-09705C126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37B2DC0-87FD-A3B0-E417-B621877F4B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1998" cy="6811160"/>
              </a:xfrm>
            </p:spPr>
            <p:txBody>
              <a:bodyPr wrap="square">
                <a:spAutoFit/>
              </a:bodyPr>
              <a:lstStyle/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dirty="0"/>
                  <a:t>Continuous reactor: PFR </a:t>
                </a: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:r>
                  <a:rPr lang="en-US" sz="1800" dirty="0"/>
                  <a:t>Plug Flow Reactor: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continuous inlet and outlet flow, at steady state  no accumulation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b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no back-mixing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along the flow direction;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depend on the position along the tube</a:t>
                </a:r>
              </a:p>
              <a:p>
                <a:pPr marL="973138" lvl="1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PFR </a:t>
                </a:r>
                <a:r>
                  <a:rPr lang="en-US" sz="1800" i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see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all the “rate spectrum”, as </a:t>
                </a:r>
                <a14:m>
                  <m:oMath xmlns:m="http://schemas.openxmlformats.org/officeDocument/2006/math"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 changes along the reactor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288925" lvl="0" indent="0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we need to make the balance on a tiny reactor slice of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800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d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𝑉</m:t>
                    </m:r>
                  </m:oMath>
                </a14:m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, where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changes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800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d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along the slice</a:t>
                </a:r>
              </a:p>
              <a:p>
                <a:pPr marL="288925" lvl="0" indent="0">
                  <a:lnSpc>
                    <a:spcPct val="150000"/>
                  </a:lnSpc>
                  <a:buNone/>
                </a:pP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0=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d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𝑎</m:t>
                          </m:r>
                        </m:e>
                      </m:d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d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      </m:t>
                          </m:r>
                        </m:e>
                      </m:groupChr>
                      <m: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0=−</m:t>
                      </m:r>
                      <m:acc>
                        <m:accPr>
                          <m:chr m:val="̇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acc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e>
                      </m:acc>
                      <m:r>
                        <m:rPr>
                          <m:sty m:val="p"/>
                        </m:rP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d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sz="1800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d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  <m:d>
                        <m:dPr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</m:t>
                      </m:r>
                      <m:r>
                        <a:rPr lang="it-IT" sz="1800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      </m:t>
                          </m:r>
                        </m:e>
                      </m:groupChr>
                      <m:r>
                        <a:rPr lang="it-IT" sz="1800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</m:t>
                      </m:r>
                      <m: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  −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d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𝑎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1</m:t>
                          </m:r>
                        </m:num>
                        <m:den>
                          <m:acc>
                            <m:accPr>
                              <m:chr m:val="̇"/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acc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𝑉</m:t>
                              </m:r>
                            </m:e>
                          </m:acc>
                        </m:den>
                      </m:f>
                      <m:r>
                        <m:rPr>
                          <m:sty m:val="p"/>
                        </m:rP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d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𝑉</m:t>
                      </m:r>
                    </m:oMath>
                  </m:oMathPara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integrate from inlet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=0,  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to outlet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=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𝑉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, </m:t>
                        </m:r>
                        <m:r>
                          <a:rPr lang="it-IT" sz="1800" b="0" i="1" noProof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𝑎</m:t>
                        </m:r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=</m:t>
                        </m:r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br>
                  <a:rPr lang="it-IT" sz="1800" i="1" noProof="1">
                    <a:solidFill>
                      <a:prstClr val="black"/>
                    </a:solidFill>
                    <a:latin typeface="Cambria Math" panose="02040503050406030204" pitchFamily="18" charset="0"/>
                    <a:cs typeface="Helvetica Neue" panose="02000503000000020004" pitchFamily="2" charset="0"/>
                    <a:sym typeface="Wingdings" pitchFamily="2" charset="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it-IT" sz="180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𝑖</m:t>
                              </m:r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𝑜𝑢𝑡</m:t>
                              </m:r>
                            </m:sub>
                          </m:sSub>
                        </m:sup>
                        <m:e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f>
                            <m:f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𝑑𝑎</m:t>
                          </m:r>
                        </m:e>
                      </m:nary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0</m:t>
                          </m:r>
                        </m:sub>
                        <m:sup>
                          <m: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</m:sup>
                        <m:e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1</m:t>
                              </m:r>
                            </m:num>
                            <m:den>
                              <m:acc>
                                <m:accPr>
                                  <m:chr m:val="̇"/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𝑉</m:t>
                                  </m:r>
                                </m:e>
                              </m:acc>
                            </m:den>
                          </m:f>
                          <m:r>
                            <m:rPr>
                              <m:sty m:val="p"/>
                            </m:rPr>
                            <a:rPr lang="it-IT" sz="1800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d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𝑉</m:t>
                          </m:r>
                          <m:r>
                            <m:rPr>
                              <m:nor/>
                            </m:rPr>
                            <a:rPr lang="en-US" sz="1800" noProof="1">
                              <a:solidFill>
                                <a:prstClr val="black"/>
                              </a:solidFill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</m:e>
                      </m:nary>
                      <m:groupChr>
                        <m:groupChrPr>
                          <m:chr m:val="⇒"/>
                          <m:vertJc m:val="bot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       </m:t>
                          </m:r>
                        </m:e>
                      </m:groupCh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 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𝑜𝑢𝑡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𝑖𝑛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it-IT" sz="1800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d</m:t>
                              </m:r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it-IT" sz="1800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it-IT" sz="1800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37B2DC0-87FD-A3B0-E417-B621877F4B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1998" cy="6811160"/>
              </a:xfrm>
              <a:blipFill>
                <a:blip r:embed="rId3"/>
                <a:stretch>
                  <a:fillRect l="-416" b="-2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Plug Flow Reactor (PFR): Your Guide to Their Principles, Applications, and  Benefits">
            <a:extLst>
              <a:ext uri="{FF2B5EF4-FFF2-40B4-BE49-F238E27FC236}">
                <a16:creationId xmlns:a16="http://schemas.microsoft.com/office/drawing/2014/main" id="{AF7561AF-0B5B-E09E-95E8-997218B8E91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65239" y="0"/>
            <a:ext cx="3526761" cy="278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75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85437-A319-0834-D734-57114969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78971FA-4163-593B-62D2-F117BF89C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0"/>
                <a:ext cx="12191998" cy="6721392"/>
              </a:xfrm>
            </p:spPr>
            <p:txBody>
              <a:bodyPr wrap="square">
                <a:spAutoFit/>
              </a:bodyPr>
              <a:lstStyle/>
              <a:p>
                <a:pPr marL="0" lvl="0" indent="0" algn="ctr">
                  <a:lnSpc>
                    <a:spcPct val="150000"/>
                  </a:lnSpc>
                  <a:buNone/>
                </a:pPr>
                <a:r>
                  <a:rPr lang="en-US" sz="1800" dirty="0"/>
                  <a:t>Continuous reactor: PFR </a:t>
                </a: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lvl="0" indent="0">
                  <a:lnSpc>
                    <a:spcPct val="150000"/>
                  </a:lnSpc>
                  <a:buNone/>
                </a:pPr>
                <a:r>
                  <a:rPr lang="en-US" sz="1800" dirty="0"/>
                  <a:t>Plug Flow Reactor: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continuous inlet and outlet flow, at steady state  no accumulation</a:t>
                </a:r>
              </a:p>
              <a:p>
                <a:pPr marL="515938" lvl="0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b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no back-mixing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along the flow direction;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depend on the position along the tube</a:t>
                </a:r>
              </a:p>
              <a:p>
                <a:pPr marL="973138" lvl="1" indent="-227013">
                  <a:lnSpc>
                    <a:spcPct val="150000"/>
                  </a:lnSpc>
                  <a:buFontTx/>
                  <a:buChar char="-"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PFR </a:t>
                </a:r>
                <a:r>
                  <a:rPr lang="en-US" sz="1800" i="1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see 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all the “rate spectrum”, as </a:t>
                </a:r>
                <a14:m>
                  <m:oMath xmlns:m="http://schemas.openxmlformats.org/officeDocument/2006/math"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 changes along the reactor</a:t>
                </a: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288925" lvl="0" indent="0">
                  <a:lnSpc>
                    <a:spcPct val="15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we need to make the balance on a tiny reactor slice of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800" b="0" i="0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d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𝑉</m:t>
                    </m:r>
                  </m:oMath>
                </a14:m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, where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changes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800" b="0" i="0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d</m:t>
                    </m:r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along the slice</a:t>
                </a:r>
              </a:p>
              <a:p>
                <a:pPr marL="0" lv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nary>
                      <m:naryPr>
                        <m:limLoc m:val="undOvr"/>
                        <m:grow m:val="on"/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brk m:alnAt="24"/>
                              </m:r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𝑜𝑢𝑡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it-IT" sz="1800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d</m:t>
                            </m:r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num>
                          <m:den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𝑎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the same as for the batch reactor, just replace 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𝑡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with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…	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  <m: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it-IT" sz="1800" b="0" i="1" noProof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lang="it-IT" sz="1800" i="1" noProof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+</m:t>
                    </m:r>
                    <m:f>
                      <m:fPr>
                        <m:ctrlP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it-IT" sz="1800" i="1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800" noProof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it-IT" sz="1800" i="1" noProof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1800" i="1" noProof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sz="1800" i="1" noProof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noProof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b="0" i="1" noProof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𝑖𝑛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it-IT" sz="1800" b="0" i="1" noProof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noProof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b="0" i="1" noProof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𝑜𝑢𝑡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b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</a:b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0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th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when </a:t>
                </a:r>
                <a14:m>
                  <m:oMath xmlns:m="http://schemas.openxmlformats.org/officeDocument/2006/math"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≫</m:t>
                    </m:r>
                    <m:sSub>
                      <m:sSub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𝐾</m:t>
                        </m:r>
                      </m:e>
                      <m:sub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𝑀</m:t>
                        </m:r>
                      </m:sub>
                    </m:sSub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</a:t>
                </a:r>
                <a:r>
                  <a:rPr lang="it-IT" sz="1800" noProof="1">
                    <a:cs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	</a:t>
                </a:r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=−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+1</m:t>
                    </m:r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</a:t>
                </a:r>
                <a:endParaRPr lang="it-IT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1</a:t>
                </a:r>
                <a:r>
                  <a:rPr lang="en-US" sz="1800" baseline="300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st</a:t>
                </a:r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 order when </a:t>
                </a:r>
                <a14:m>
                  <m:oMath xmlns:m="http://schemas.openxmlformats.org/officeDocument/2006/math"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𝑎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≪</m:t>
                    </m:r>
                    <m:sSub>
                      <m:sSub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𝐾</m:t>
                        </m:r>
                      </m:e>
                      <m:sub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𝑀</m:t>
                        </m:r>
                      </m:sub>
                    </m:sSub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  </m:t>
                    </m:r>
                  </m:oMath>
                </a14:m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	 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𝜏</m:t>
                    </m:r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800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sz="1800" i="1" noProof="1"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noProof="1"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b="0" i="1" noProof="1" smtClean="0"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𝑖𝑛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it-IT" sz="1800" b="0" i="1" noProof="1" smtClean="0"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 noProof="1"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1800" b="0" i="1" noProof="1" smtClean="0"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  <a:sym typeface="Wingdings" pitchFamily="2" charset="2"/>
                                      </a:rPr>
                                      <m:t>𝑜𝑢𝑡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1800" noProof="1">
                    <a:solidFill>
                      <a:prstClr val="black"/>
                    </a:solidFill>
                    <a:cs typeface="Helvetica Neue" panose="02000503000000020004" pitchFamily="2" charset="0"/>
                    <a:sym typeface="Wingdings" pitchFamily="2" charset="2"/>
                  </a:rPr>
                  <a:t>		</a:t>
                </a:r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b="0" i="1" noProof="1" smtClean="0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it-IT" sz="1800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=</m:t>
                    </m:r>
                    <m:sSup>
                      <m:sSupPr>
                        <m:ctrlP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𝑒</m:t>
                        </m:r>
                      </m:e>
                      <m:sup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−</m:t>
                        </m:r>
                        <m:r>
                          <a:rPr lang="it-IT" sz="1800" i="1" noProof="1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𝜏</m:t>
                        </m:r>
                        <m:r>
                          <a:rPr lang="it-IT" sz="1800" b="0" i="1" noProof="1" smtClean="0">
                            <a:latin typeface="Cambria Math" panose="02040503050406030204" pitchFamily="18" charset="0"/>
                            <a:cs typeface="Helvetica Neue" panose="02000503000000020004" pitchFamily="2" charset="0"/>
                            <a:sym typeface="Wingdings" pitchFamily="2" charset="2"/>
                          </a:rPr>
                          <m:t> </m:t>
                        </m:r>
                        <m:f>
                          <m:fPr>
                            <m:ctrlPr>
                              <a:rPr lang="it-IT" sz="1800" i="1" noProof="1"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  <a:sym typeface="Wingdings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𝑚𝑎𝑥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it-IT" sz="1800" i="1" noProof="1"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  <a:sym typeface="Wingdings" pitchFamily="2" charset="2"/>
                                  </a:rPr>
                                  <m:t>𝑀</m:t>
                                </m:r>
                              </m:sub>
                            </m:sSub>
                          </m:den>
                        </m:f>
                      </m:sup>
                    </m:sSup>
                    <m:r>
                      <a:rPr lang="it-IT" sz="1800" i="1" noProof="1">
                        <a:latin typeface="Cambria Math" panose="02040503050406030204" pitchFamily="18" charset="0"/>
                        <a:cs typeface="Helvetica Neue" panose="02000503000000020004" pitchFamily="2" charset="0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𝑋</m:t>
                    </m:r>
                  </m:oMath>
                </a14:m>
                <a:r>
                  <a:rPr lang="it-IT" sz="1800" noProof="1">
                    <a:solidFill>
                      <a:prstClr val="black"/>
                    </a:solidFill>
                    <a:cs typeface="Helvetica Neue" panose="02000503000000020004" pitchFamily="2" charset="0"/>
                  </a:rPr>
                  <a:t>:	 </a:t>
                </a:r>
                <a14:m>
                  <m:oMath xmlns:m="http://schemas.openxmlformats.org/officeDocument/2006/math">
                    <m:r>
                      <a:rPr lang="it-IT" sz="1800" b="0" i="1" noProof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𝜏</m:t>
                    </m:r>
                    <m:d>
                      <m:d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dPr>
                      <m:e>
                        <m: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𝑋</m:t>
                        </m:r>
                      </m:e>
                    </m:d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=</m:t>
                    </m:r>
                    <m:f>
                      <m:f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𝑋</m:t>
                    </m:r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+</m:t>
                    </m:r>
                    <m:f>
                      <m:f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</m:ctrlPr>
                          </m:sSubPr>
                          <m:e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it-IT" sz="1800" i="1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sz="1800" noProof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Helvetica Neue" panose="02000503000000020004" pitchFamily="2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it-IT" sz="1800" i="1" noProof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Helvetica Neue" panose="02000503000000020004" pitchFamily="2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</m:ctrlPr>
                              </m:fPr>
                              <m:num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1−</m:t>
                                </m:r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𝑋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it-IT" sz="1800" i="1" noProof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Helvetica Neue" panose="02000503000000020004" pitchFamily="2" charset="0"/>
                      </a:rPr>
                      <m:t> </m:t>
                    </m:r>
                  </m:oMath>
                </a14:m>
                <a:r>
                  <a:rPr lang="it-IT" sz="1800" noProof="1">
                    <a:cs typeface="Helvetica Neue" panose="02000503000000020004" pitchFamily="2" charset="0"/>
                    <a:sym typeface="Wingdings" pitchFamily="2" charset="2"/>
                  </a:rPr>
                  <a:t>			</a:t>
                </a:r>
                <a:endParaRPr lang="en-US" sz="180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78971FA-4163-593B-62D2-F117BF89C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0"/>
                <a:ext cx="12191998" cy="6721392"/>
              </a:xfrm>
              <a:blipFill>
                <a:blip r:embed="rId3"/>
                <a:stretch>
                  <a:fillRect l="-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Plug Flow Reactor (PFR): Your Guide to Their Principles, Applications, and  Benefits">
            <a:extLst>
              <a:ext uri="{FF2B5EF4-FFF2-40B4-BE49-F238E27FC236}">
                <a16:creationId xmlns:a16="http://schemas.microsoft.com/office/drawing/2014/main" id="{6A27899C-1D5D-1CBF-85C0-5B6890045BA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65239" y="0"/>
            <a:ext cx="3526761" cy="278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7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888C-D04B-BB45-A24C-A19D83DDF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B39249-C614-58D6-B90D-685B897FE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1998" cy="454548"/>
          </a:xfrm>
        </p:spPr>
        <p:txBody>
          <a:bodyPr wrap="square">
            <a:spAutoFit/>
          </a:bodyPr>
          <a:lstStyle/>
          <a:p>
            <a:pPr marL="0" lvl="0" indent="0" algn="ctr">
              <a:lnSpc>
                <a:spcPct val="150000"/>
              </a:lnSpc>
              <a:buNone/>
            </a:pPr>
            <a:r>
              <a:rPr lang="en-US" sz="1800" dirty="0"/>
              <a:t>Continuous reactor: PFR vs CSTR, </a:t>
            </a:r>
            <a:r>
              <a:rPr lang="en-US" sz="1800" b="1" dirty="0"/>
              <a:t>at the “1</a:t>
            </a:r>
            <a:r>
              <a:rPr lang="en-US" sz="1800" b="1" baseline="30000" dirty="0"/>
              <a:t>st</a:t>
            </a:r>
            <a:r>
              <a:rPr lang="en-US" sz="1800" b="1" dirty="0"/>
              <a:t> order regime”</a:t>
            </a:r>
            <a:endParaRPr lang="it-IT" sz="1800" b="1" noProof="1">
              <a:solidFill>
                <a:prstClr val="black"/>
              </a:solidFill>
              <a:cs typeface="Helvetica Neue" panose="02000503000000020004" pitchFamily="2" charset="0"/>
              <a:sym typeface="Wingdings" pitchFamily="2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C0636-B29A-5FB1-2140-FE934D8F9E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60" b="2953"/>
          <a:stretch>
            <a:fillRect/>
          </a:stretch>
        </p:blipFill>
        <p:spPr>
          <a:xfrm>
            <a:off x="0" y="943402"/>
            <a:ext cx="6524248" cy="3518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00220-C0E0-7665-4FE4-3964A9D0F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429001"/>
            <a:ext cx="5715000" cy="3429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407F16-BCCE-0770-42FA-ABEA81F6A75E}"/>
                  </a:ext>
                </a:extLst>
              </p:cNvPr>
              <p:cNvSpPr txBox="1"/>
              <p:nvPr/>
            </p:nvSpPr>
            <p:spPr>
              <a:xfrm>
                <a:off x="6477000" y="1033110"/>
                <a:ext cx="3025035" cy="2329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PFR</m:t>
                      </m:r>
                      <m:r>
                        <a:rPr lang="it-IT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: </m:t>
                      </m:r>
                      <m:r>
                        <a:rPr lang="it-IT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</m:t>
                      </m:r>
                      <m:r>
                        <a:rPr lang="it-IT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r>
                        <a:rPr lang="it-IT" i="1" noProof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nary>
                        <m:naryPr>
                          <m:limLoc m:val="undOvr"/>
                          <m:grow m:val="on"/>
                          <m:ctrlPr>
                            <a:rPr lang="it-IT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𝑜𝑢𝑡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𝑖𝑛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it-IT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d</m:t>
                              </m:r>
                              <m: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it-IT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r>
                                    <a:rPr lang="it-IT" i="1" noProof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it-IT" noProof="1">
                  <a:solidFill>
                    <a:prstClr val="black"/>
                  </a:solidFill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endParaRPr lang="it-IT" noProof="1">
                  <a:solidFill>
                    <a:prstClr val="black"/>
                  </a:solidFill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C</m:t>
                      </m:r>
                      <m:r>
                        <m:rPr>
                          <m:sty m:val="p"/>
                        </m:rPr>
                        <a:rPr lang="it-IT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STR</m:t>
                      </m:r>
                      <m:r>
                        <a:rPr lang="it-IT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: </m:t>
                      </m:r>
                      <m:r>
                        <a:rPr lang="it-IT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𝜏</m:t>
                      </m:r>
                      <m:r>
                        <a:rPr lang="it-IT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it-IT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it-IT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𝑣</m:t>
                          </m:r>
                          <m:d>
                            <m:dPr>
                              <m:ctrlP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it-IT" i="1" noProof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it-IT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it-IT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b="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endParaRPr lang="it-IT" b="0" noProof="1">
                  <a:solidFill>
                    <a:prstClr val="black"/>
                  </a:solidFill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407F16-BCCE-0770-42FA-ABEA81F6A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033110"/>
                <a:ext cx="3025035" cy="2329164"/>
              </a:xfrm>
              <a:prstGeom prst="rect">
                <a:avLst/>
              </a:prstGeom>
              <a:blipFill>
                <a:blip r:embed="rId5"/>
                <a:stretch>
                  <a:fillRect t="-43478" b="-5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D2BCDC-4CE2-F91D-C7A4-DEA3F76E3282}"/>
                  </a:ext>
                </a:extLst>
              </p:cNvPr>
              <p:cNvSpPr txBox="1"/>
              <p:nvPr/>
            </p:nvSpPr>
            <p:spPr>
              <a:xfrm>
                <a:off x="3829381" y="4950964"/>
                <a:ext cx="3771240" cy="1747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noProof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PFR</m:t>
                      </m:r>
                      <m:r>
                        <a:rPr lang="it-IT" b="0" i="0" noProof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:   </m:t>
                      </m:r>
                      <m:r>
                        <a:rPr lang="it-IT" b="0" i="1" noProof="1" smtClean="0"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  </m:t>
                      </m:r>
                      <m:f>
                        <m:fPr>
                          <m:ctrlPr>
                            <a:rPr lang="it-IT" i="1" noProof="1"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it-IT" noProof="1"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sSup>
                        <m:sSupPr>
                          <m:ctrlPr>
                            <a:rPr lang="it-IT" i="1" noProof="1"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sSupPr>
                        <m:e>
                          <m:r>
                            <a:rPr lang="it-IT" i="1" noProof="1"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𝑒</m:t>
                          </m:r>
                        </m:e>
                        <m:sup>
                          <m:r>
                            <a:rPr lang="it-IT" i="1" noProof="1"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−</m:t>
                          </m:r>
                          <m:r>
                            <a:rPr lang="it-IT" i="1" noProof="1"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𝜏</m:t>
                          </m:r>
                          <m:r>
                            <a:rPr lang="it-IT" i="1" noProof="1"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 </m:t>
                          </m:r>
                          <m:f>
                            <m:fPr>
                              <m:ctrlPr>
                                <a:rPr lang="it-IT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it-IT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it-IT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it-IT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𝑀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it-IT" sz="1800" b="0" i="0" noProof="1">
                  <a:solidFill>
                    <a:prstClr val="black"/>
                  </a:solidFill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endParaRPr lang="it-IT" sz="1800" b="0" i="0" noProof="1">
                  <a:solidFill>
                    <a:prstClr val="black"/>
                  </a:solidFill>
                  <a:latin typeface="Cambria Math" panose="02040503050406030204" pitchFamily="18" charset="0"/>
                  <a:cs typeface="Helvetica Neue" panose="02000503000000020004" pitchFamily="2" charset="0"/>
                  <a:sym typeface="Wingdings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CSTR</m:t>
                      </m:r>
                      <m:r>
                        <a:rPr lang="it-IT" sz="1800" b="0" i="0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:   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it-IT" sz="1800" b="0" i="1" noProof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  <m:r>
                        <a:rPr lang="it-IT" sz="1800" b="0" i="1" noProof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Helvetica Neue" panose="02000503000000020004" pitchFamily="2" charset="0"/>
                          <a:sym typeface="Wingdings" pitchFamily="2" charset="2"/>
                        </a:rPr>
                        <m:t>=</m:t>
                      </m:r>
                      <m:f>
                        <m:fPr>
                          <m:ctrlPr>
                            <a:rPr lang="it-IT" sz="1800" b="0" i="1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</m:ctrlPr>
                        </m:fPr>
                        <m:num>
                          <m:r>
                            <a:rPr lang="it-IT" sz="1800" b="0" i="0" noProof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𝜏</m:t>
                          </m:r>
                          <m:f>
                            <m:fPr>
                              <m:ctrlPr>
                                <a:rPr lang="it-IT" sz="1800" i="1" noProof="1">
                                  <a:latin typeface="Cambria Math" panose="02040503050406030204" pitchFamily="18" charset="0"/>
                                  <a:cs typeface="Helvetica Neue" panose="02000503000000020004" pitchFamily="2" charset="0"/>
                                  <a:sym typeface="Wingdings" pitchFamily="2" charset="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sz="1800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𝑚𝑎𝑥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it-IT" sz="1800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it-IT" sz="1800" i="1" noProof="1">
                                      <a:latin typeface="Cambria Math" panose="02040503050406030204" pitchFamily="18" charset="0"/>
                                      <a:cs typeface="Helvetica Neue" panose="02000503000000020004" pitchFamily="2" charset="0"/>
                                      <a:sym typeface="Wingdings" pitchFamily="2" charset="2"/>
                                    </a:rPr>
                                    <m:t>𝑀</m:t>
                                  </m:r>
                                </m:sub>
                              </m:sSub>
                            </m:den>
                          </m:f>
                          <m:r>
                            <a:rPr lang="it-IT" sz="1800" i="1" noProof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D2BCDC-4CE2-F91D-C7A4-DEA3F76E3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381" y="4950964"/>
                <a:ext cx="3771240" cy="17478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36F93A7-8DDA-9A51-86CF-E1FCEB0CDFBC}"/>
              </a:ext>
            </a:extLst>
          </p:cNvPr>
          <p:cNvSpPr txBox="1"/>
          <p:nvPr/>
        </p:nvSpPr>
        <p:spPr>
          <a:xfrm>
            <a:off x="1705408" y="663778"/>
            <a:ext cx="311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noProof="1">
                <a:solidFill>
                  <a:prstClr val="black"/>
                </a:solidFill>
                <a:cs typeface="Helvetica Neue" panose="02000503000000020004" pitchFamily="2" charset="0"/>
                <a:sym typeface="Wingdings" pitchFamily="2" charset="2"/>
              </a:rPr>
              <a:t>Levenspiel plot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834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DAC78-0C21-858A-5570-83381508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609EFF-1A69-DD6D-A9F9-C6D3278B9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12191998" cy="454548"/>
          </a:xfrm>
        </p:spPr>
        <p:txBody>
          <a:bodyPr wrap="square">
            <a:spAutoFit/>
          </a:bodyPr>
          <a:lstStyle/>
          <a:p>
            <a:pPr marL="0" lvl="0" indent="0" algn="ctr">
              <a:lnSpc>
                <a:spcPct val="150000"/>
              </a:lnSpc>
              <a:buNone/>
            </a:pPr>
            <a:r>
              <a:rPr lang="en-US" sz="1800" dirty="0"/>
              <a:t>Continuous reactor: PFR vs CSTR, general</a:t>
            </a:r>
            <a:endParaRPr lang="it-IT" sz="1800" u="sng" noProof="1">
              <a:solidFill>
                <a:prstClr val="black"/>
              </a:solidFill>
              <a:cs typeface="Helvetica Neue" panose="02000503000000020004" pitchFamily="2" charset="0"/>
              <a:sym typeface="Wingdings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BAB5268-ECB9-31F4-BB8F-617E271565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215550"/>
                  </p:ext>
                </p:extLst>
              </p:nvPr>
            </p:nvGraphicFramePr>
            <p:xfrm>
              <a:off x="0" y="721248"/>
              <a:ext cx="12192000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2576">
                      <a:extLst>
                        <a:ext uri="{9D8B030D-6E8A-4147-A177-3AD203B41FA5}">
                          <a16:colId xmlns:a16="http://schemas.microsoft.com/office/drawing/2014/main" val="2682661472"/>
                        </a:ext>
                      </a:extLst>
                    </a:gridCol>
                    <a:gridCol w="935624">
                      <a:extLst>
                        <a:ext uri="{9D8B030D-6E8A-4147-A177-3AD203B41FA5}">
                          <a16:colId xmlns:a16="http://schemas.microsoft.com/office/drawing/2014/main" val="695504552"/>
                        </a:ext>
                      </a:extLst>
                    </a:gridCol>
                    <a:gridCol w="4337834">
                      <a:extLst>
                        <a:ext uri="{9D8B030D-6E8A-4147-A177-3AD203B41FA5}">
                          <a16:colId xmlns:a16="http://schemas.microsoft.com/office/drawing/2014/main" val="4074026177"/>
                        </a:ext>
                      </a:extLst>
                    </a:gridCol>
                    <a:gridCol w="116840">
                      <a:extLst>
                        <a:ext uri="{9D8B030D-6E8A-4147-A177-3AD203B41FA5}">
                          <a16:colId xmlns:a16="http://schemas.microsoft.com/office/drawing/2014/main" val="911268024"/>
                        </a:ext>
                      </a:extLst>
                    </a:gridCol>
                    <a:gridCol w="4359126">
                      <a:extLst>
                        <a:ext uri="{9D8B030D-6E8A-4147-A177-3AD203B41FA5}">
                          <a16:colId xmlns:a16="http://schemas.microsoft.com/office/drawing/2014/main" val="1969287649"/>
                        </a:ext>
                      </a:extLst>
                    </a:gridCol>
                  </a:tblGrid>
                  <a:tr h="301752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PFR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CSTR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8876380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noProof="1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a:t>design equation 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it-IT" sz="1800" b="0" i="1" noProof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𝜏</m:t>
                                </m:r>
                                <m:d>
                                  <m:dPr>
                                    <m:ctrlP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it-IT" sz="1800" i="1" noProof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𝑖𝑛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it-IT" sz="1800" i="1" noProof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𝑋</m:t>
                                </m:r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den>
                                </m:f>
                                <m:func>
                                  <m:funcPr>
                                    <m:ctrlP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it-IT" sz="1800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it-IT" sz="1800" i="1" noProof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cs typeface="Helvetica Neue" panose="02000503000000020004" pitchFamily="2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it-IT" sz="1800" i="1" noProof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cs typeface="Helvetica Neue" panose="02000503000000020004" pitchFamily="2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it-IT" sz="1800" i="1" noProof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cs typeface="Helvetica Neue" panose="02000503000000020004" pitchFamily="2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it-IT" sz="1800" i="1" noProof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cs typeface="Helvetica Neue" panose="02000503000000020004" pitchFamily="2" charset="0"/>
                                              </a:rPr>
                                              <m:t>𝑋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it-IT" sz="1800" b="0" i="1" noProof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𝜏</m:t>
                                </m:r>
                                <m:d>
                                  <m:dPr>
                                    <m:ctrlP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it-IT" sz="1800" i="1" noProof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𝑖𝑛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it-IT" sz="1800" i="1" noProof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𝑋</m:t>
                                </m:r>
                                <m:r>
                                  <a:rPr lang="it-IT" sz="1800" i="1" noProof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it-IT" sz="1800" i="1" noProof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cs typeface="Helvetica Neue" panose="02000503000000020004" pitchFamily="2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it-IT" sz="1800" b="0" i="1" noProof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Helvetica Neue" panose="02000503000000020004" pitchFamily="2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it-IT" sz="1800" i="1" noProof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it-IT" sz="1800" b="0" i="1" noProof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  <m:t>1−</m:t>
                                    </m:r>
                                    <m:r>
                                      <a:rPr lang="it-IT" sz="1800" i="1" noProof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cs typeface="Helvetica Neue" panose="02000503000000020004" pitchFamily="2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94031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BAB5268-ECB9-31F4-BB8F-617E271565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9215550"/>
                  </p:ext>
                </p:extLst>
              </p:nvPr>
            </p:nvGraphicFramePr>
            <p:xfrm>
              <a:off x="0" y="721248"/>
              <a:ext cx="12192000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2576">
                      <a:extLst>
                        <a:ext uri="{9D8B030D-6E8A-4147-A177-3AD203B41FA5}">
                          <a16:colId xmlns:a16="http://schemas.microsoft.com/office/drawing/2014/main" val="2682661472"/>
                        </a:ext>
                      </a:extLst>
                    </a:gridCol>
                    <a:gridCol w="935624">
                      <a:extLst>
                        <a:ext uri="{9D8B030D-6E8A-4147-A177-3AD203B41FA5}">
                          <a16:colId xmlns:a16="http://schemas.microsoft.com/office/drawing/2014/main" val="695504552"/>
                        </a:ext>
                      </a:extLst>
                    </a:gridCol>
                    <a:gridCol w="4337834">
                      <a:extLst>
                        <a:ext uri="{9D8B030D-6E8A-4147-A177-3AD203B41FA5}">
                          <a16:colId xmlns:a16="http://schemas.microsoft.com/office/drawing/2014/main" val="4074026177"/>
                        </a:ext>
                      </a:extLst>
                    </a:gridCol>
                    <a:gridCol w="116840">
                      <a:extLst>
                        <a:ext uri="{9D8B030D-6E8A-4147-A177-3AD203B41FA5}">
                          <a16:colId xmlns:a16="http://schemas.microsoft.com/office/drawing/2014/main" val="911268024"/>
                        </a:ext>
                      </a:extLst>
                    </a:gridCol>
                    <a:gridCol w="4359126">
                      <a:extLst>
                        <a:ext uri="{9D8B030D-6E8A-4147-A177-3AD203B41FA5}">
                          <a16:colId xmlns:a16="http://schemas.microsoft.com/office/drawing/2014/main" val="196928764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PFR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CSTR</a:t>
                          </a: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8876380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800" noProof="1">
                              <a:solidFill>
                                <a:schemeClr val="tx1"/>
                              </a:solidFill>
                              <a:latin typeface="Helvetica Neue" panose="02000503000000020004" pitchFamily="2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  <a:sym typeface="Wingdings" pitchFamily="2" charset="2"/>
                            </a:rPr>
                            <a:t>design equation 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77778" t="-28440" r="-103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800" dirty="0">
                            <a:solidFill>
                              <a:schemeClr val="tx1"/>
                            </a:solidFill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9883" t="-28440" r="-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940319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3D7E0AA-5D6F-5FCD-7F32-8E28B97AB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52426"/>
              </p:ext>
            </p:extLst>
          </p:nvPr>
        </p:nvGraphicFramePr>
        <p:xfrm>
          <a:off x="2649571" y="2263313"/>
          <a:ext cx="6892857" cy="4594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AF71915-5DDC-F277-CDA2-F9530074D584}"/>
              </a:ext>
            </a:extLst>
          </p:cNvPr>
          <p:cNvSpPr txBox="1"/>
          <p:nvPr/>
        </p:nvSpPr>
        <p:spPr>
          <a:xfrm>
            <a:off x="10130986" y="5040868"/>
            <a:ext cx="2061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play with Excel,</a:t>
            </a:r>
          </a:p>
          <a:p>
            <a:r>
              <a:rPr lang="en-US" dirty="0"/>
              <a:t>also, with </a:t>
            </a:r>
            <a:r>
              <a:rPr lang="en-US" i="1" dirty="0"/>
              <a:t>staging!</a:t>
            </a:r>
          </a:p>
        </p:txBody>
      </p:sp>
    </p:spTree>
    <p:extLst>
      <p:ext uri="{BB962C8B-B14F-4D97-AF65-F5344CB8AC3E}">
        <p14:creationId xmlns:p14="http://schemas.microsoft.com/office/powerpoint/2010/main" val="387077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5388</TotalTime>
  <Words>1104</Words>
  <Application>Microsoft Macintosh PowerPoint</Application>
  <PresentationFormat>Widescreen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 Math</vt:lpstr>
      <vt:lpstr>Helvetica Neue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Domenico Marson</dc:creator>
  <cp:lastModifiedBy>MARSON DOMENICO</cp:lastModifiedBy>
  <cp:revision>203</cp:revision>
  <dcterms:created xsi:type="dcterms:W3CDTF">2023-08-01T16:55:35Z</dcterms:created>
  <dcterms:modified xsi:type="dcterms:W3CDTF">2026-03-12T22:06:44Z</dcterms:modified>
</cp:coreProperties>
</file>